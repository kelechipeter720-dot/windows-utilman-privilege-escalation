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Bahnschrift SemiBold Condensed" panose="020B0502040204020203" pitchFamily="34" charset="0"/>
      <p:bold r:id="rId11"/>
    </p:embeddedFont>
    <p:embeddedFont>
      <p:font typeface="Californian FB" panose="0207040306080B030204" pitchFamily="18" charset="0"/>
      <p:regular r:id="rId12"/>
      <p:bold r:id="rId13"/>
      <p:italic r:id="rId14"/>
    </p:embeddedFont>
    <p:embeddedFont>
      <p:font typeface="Century Gothic" panose="020B0502020202020204" pitchFamily="34" charset="0"/>
      <p:regular r:id="rId15"/>
      <p:bold r:id="rId16"/>
      <p:italic r:id="rId17"/>
      <p:boldItalic r:id="rId18"/>
    </p:embeddedFont>
    <p:embeddedFont>
      <p:font typeface="Wingdings 3" panose="05040102010807070707" pitchFamily="18" charset="2"/>
      <p:regular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9127D0E-45CB-48EA-AE08-F9A1617C5C60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8815C-3BBE-4BA1-B775-E848FFB0653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BDAED7-4AD6-49C3-BCB9-CFB36FF32BC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445477" y="1043979"/>
            <a:ext cx="11746523" cy="652001"/>
          </a:xfrm>
          <a:effectLst>
            <a:glow rad="63500">
              <a:schemeClr val="accent2">
                <a:satMod val="175000"/>
                <a:alpha val="40000"/>
              </a:schemeClr>
            </a:glow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Californian FB" panose="0207040306080B030204" pitchFamily="18" charset="0"/>
              </a:rPr>
              <a:t>PASSWORD BYPASS ON WINDOWS USING UTILITY MANAGER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95652" y="1695980"/>
            <a:ext cx="93082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Local Account Password Recovery via Offline System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626" y="3780899"/>
            <a:ext cx="1838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6212" y="3780899"/>
            <a:ext cx="3273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NWAIGWE KELECHI PETER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626" y="4150231"/>
            <a:ext cx="1126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Course: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6212" y="4140475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Security 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350" y="4519295"/>
            <a:ext cx="1374775" cy="349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dirty="0"/>
              <a:t>Instructor: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6212" y="4517207"/>
            <a:ext cx="1563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MR DANIEL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626" y="4888895"/>
            <a:ext cx="848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6212" y="4876674"/>
            <a:ext cx="2241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September 2026</a:t>
            </a:r>
          </a:p>
        </p:txBody>
      </p:sp>
      <p:sp>
        <p:nvSpPr>
          <p:cNvPr id="16" name="Rectangle: Rounded Corners 15"/>
          <p:cNvSpPr/>
          <p:nvPr/>
        </p:nvSpPr>
        <p:spPr>
          <a:xfrm>
            <a:off x="728869" y="3293452"/>
            <a:ext cx="5367131" cy="2541588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F41F04E-47BF-87D0-84DB-A540EF9C7932}"/>
              </a:ext>
            </a:extLst>
          </p:cNvPr>
          <p:cNvCxnSpPr>
            <a:cxnSpLocks/>
          </p:cNvCxnSpPr>
          <p:nvPr/>
        </p:nvCxnSpPr>
        <p:spPr>
          <a:xfrm>
            <a:off x="128954" y="1371600"/>
            <a:ext cx="1196926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AC570D2-97FC-E85A-2246-0384E60F39D2}"/>
              </a:ext>
            </a:extLst>
          </p:cNvPr>
          <p:cNvSpPr txBox="1"/>
          <p:nvPr/>
        </p:nvSpPr>
        <p:spPr>
          <a:xfrm>
            <a:off x="1652952" y="761999"/>
            <a:ext cx="4443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INTRODUCTION7 &amp; OBJECTIVE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F79563-98B5-54DC-00FA-2F2E11569C5C}"/>
              </a:ext>
            </a:extLst>
          </p:cNvPr>
          <p:cNvSpPr txBox="1"/>
          <p:nvPr/>
        </p:nvSpPr>
        <p:spPr>
          <a:xfrm>
            <a:off x="937846" y="1793631"/>
            <a:ext cx="8229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</a:t>
            </a:r>
          </a:p>
          <a:p>
            <a:endParaRPr lang="en-US" dirty="0"/>
          </a:p>
          <a:p>
            <a:r>
              <a:rPr lang="en-US" dirty="0"/>
              <a:t>Utilman.exe, also knows as Utility Manager, is a Window system utility that provides accessibility options from the sign in screen.</a:t>
            </a:r>
          </a:p>
          <a:p>
            <a:endParaRPr lang="en-US" dirty="0"/>
          </a:p>
          <a:p>
            <a:r>
              <a:rPr lang="en-US" dirty="0"/>
              <a:t>This project looks at how access to Windows system file from outside the normal login process can affect local account security.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DEFC59-BE89-7CEB-5233-5FF0A9C978E7}"/>
              </a:ext>
            </a:extLst>
          </p:cNvPr>
          <p:cNvSpPr txBox="1"/>
          <p:nvPr/>
        </p:nvSpPr>
        <p:spPr>
          <a:xfrm>
            <a:off x="1078523" y="4246986"/>
            <a:ext cx="90853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Objective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Understand what utilman.exe does.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Demonstrate the effect of modifying the utility.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Show how offline system access can affect the normal authentication process</a:t>
            </a:r>
          </a:p>
        </p:txBody>
      </p:sp>
    </p:spTree>
    <p:extLst>
      <p:ext uri="{BB962C8B-B14F-4D97-AF65-F5344CB8AC3E}">
        <p14:creationId xmlns:p14="http://schemas.microsoft.com/office/powerpoint/2010/main" val="3490091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BD9F42A-577C-24DC-B9EF-80EDB4517377}"/>
              </a:ext>
            </a:extLst>
          </p:cNvPr>
          <p:cNvCxnSpPr>
            <a:cxnSpLocks/>
          </p:cNvCxnSpPr>
          <p:nvPr/>
        </p:nvCxnSpPr>
        <p:spPr>
          <a:xfrm>
            <a:off x="269631" y="1312985"/>
            <a:ext cx="1192236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6A154E2-B8E2-5246-8CC7-686D832DFD31}"/>
              </a:ext>
            </a:extLst>
          </p:cNvPr>
          <p:cNvSpPr txBox="1"/>
          <p:nvPr/>
        </p:nvSpPr>
        <p:spPr>
          <a:xfrm>
            <a:off x="926122" y="1506362"/>
            <a:ext cx="743243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Utilman.exe?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Utilman.exe is the window Utility Manager.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It provides accessibility features from the sign in screen.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It can be accessed before the user enters their password.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This make it an important part of the pre login environment.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Security Point </a:t>
            </a:r>
          </a:p>
          <a:p>
            <a:endParaRPr lang="en-US" dirty="0"/>
          </a:p>
          <a:p>
            <a:r>
              <a:rPr lang="en-US" dirty="0"/>
              <a:t>The project focuses on what happen when someone has offline access to the window system file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C6A996-9BF1-51F2-B31E-00DAAA7770DC}"/>
              </a:ext>
            </a:extLst>
          </p:cNvPr>
          <p:cNvSpPr txBox="1"/>
          <p:nvPr/>
        </p:nvSpPr>
        <p:spPr>
          <a:xfrm>
            <a:off x="1723294" y="750277"/>
            <a:ext cx="6119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UNDERSTANDING UTILMAN.EXE</a:t>
            </a:r>
          </a:p>
        </p:txBody>
      </p:sp>
    </p:spTree>
    <p:extLst>
      <p:ext uri="{BB962C8B-B14F-4D97-AF65-F5344CB8AC3E}">
        <p14:creationId xmlns:p14="http://schemas.microsoft.com/office/powerpoint/2010/main" val="605793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ABC8F6E-A018-2F40-BF65-50125D6200AE}"/>
              </a:ext>
            </a:extLst>
          </p:cNvPr>
          <p:cNvCxnSpPr>
            <a:cxnSpLocks/>
          </p:cNvCxnSpPr>
          <p:nvPr/>
        </p:nvCxnSpPr>
        <p:spPr>
          <a:xfrm>
            <a:off x="234462" y="1277815"/>
            <a:ext cx="1195753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0DB81E1-6211-D3C3-B42E-52C3948483D3}"/>
              </a:ext>
            </a:extLst>
          </p:cNvPr>
          <p:cNvSpPr txBox="1"/>
          <p:nvPr/>
        </p:nvSpPr>
        <p:spPr>
          <a:xfrm>
            <a:off x="1617785" y="762000"/>
            <a:ext cx="3598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PROOF OF CONCEPT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0D02EC-6D15-F2DB-BAC9-4E0083CE99DB}"/>
              </a:ext>
            </a:extLst>
          </p:cNvPr>
          <p:cNvSpPr txBox="1"/>
          <p:nvPr/>
        </p:nvSpPr>
        <p:spPr>
          <a:xfrm>
            <a:off x="1019908" y="1424299"/>
            <a:ext cx="8604738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Proof of Concept: Recovery &amp; System32</a:t>
            </a:r>
          </a:p>
          <a:p>
            <a:endParaRPr lang="en-US" b="1" dirty="0"/>
          </a:p>
          <a:p>
            <a:r>
              <a:rPr lang="en-US" sz="1600" dirty="0">
                <a:latin typeface="Bahnschrift SemiBold Condensed" panose="020B0502040204020203" pitchFamily="34" charset="0"/>
              </a:rPr>
              <a:t>Step 1- Accessing Recovery Environment</a:t>
            </a:r>
          </a:p>
          <a:p>
            <a:endParaRPr lang="en-US" sz="1600" dirty="0">
              <a:latin typeface="Bahnschrift SemiBold Condensed" panose="020B0502040204020203" pitchFamily="34" charset="0"/>
            </a:endParaRPr>
          </a:p>
          <a:p>
            <a:r>
              <a:rPr lang="en-US" dirty="0"/>
              <a:t>The computer is started in the Windows Recovery Environment where command prompt can be accessed without entering the normal windows desktop.</a:t>
            </a:r>
          </a:p>
          <a:p>
            <a:endParaRPr lang="en-US" dirty="0"/>
          </a:p>
          <a:p>
            <a:r>
              <a:rPr lang="en-US" sz="1600" dirty="0">
                <a:latin typeface="Bahnschrift SemiBold Condensed" panose="020B0502040204020203" pitchFamily="34" charset="0"/>
              </a:rPr>
              <a:t>Step 2- Locating System32</a:t>
            </a:r>
          </a:p>
          <a:p>
            <a:endParaRPr lang="en-US" dirty="0"/>
          </a:p>
          <a:p>
            <a:r>
              <a:rPr lang="en-US" dirty="0"/>
              <a:t>The Windows installation is located and system32 folder is accessed. This is where the Utilman.exe system file is located.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3E161F-2222-E6EE-FC35-ACBC82B35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031" y="4925547"/>
            <a:ext cx="3174756" cy="18000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3F6104-5657-8284-CB0B-599453EFF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799" y="4925547"/>
            <a:ext cx="3270739" cy="180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566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1728721-2D75-0A48-51C4-8B596C81E2D4}"/>
              </a:ext>
            </a:extLst>
          </p:cNvPr>
          <p:cNvCxnSpPr>
            <a:cxnSpLocks/>
          </p:cNvCxnSpPr>
          <p:nvPr/>
        </p:nvCxnSpPr>
        <p:spPr>
          <a:xfrm>
            <a:off x="228600" y="1359568"/>
            <a:ext cx="119634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A777A47-1AB0-5978-EF6A-4E5DB800A1F5}"/>
              </a:ext>
            </a:extLst>
          </p:cNvPr>
          <p:cNvSpPr txBox="1"/>
          <p:nvPr/>
        </p:nvSpPr>
        <p:spPr>
          <a:xfrm>
            <a:off x="1672389" y="745959"/>
            <a:ext cx="4018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PROOF OF CONCEPT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24E89B-FE29-3A37-3BCC-092E4188DA90}"/>
              </a:ext>
            </a:extLst>
          </p:cNvPr>
          <p:cNvSpPr txBox="1"/>
          <p:nvPr/>
        </p:nvSpPr>
        <p:spPr>
          <a:xfrm>
            <a:off x="1251284" y="1696453"/>
            <a:ext cx="718285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Proof of concept: </a:t>
            </a:r>
            <a:r>
              <a:rPr lang="en-US" dirty="0" err="1"/>
              <a:t>Utilman</a:t>
            </a:r>
            <a:r>
              <a:rPr lang="en-US" dirty="0"/>
              <a:t> Modification </a:t>
            </a:r>
          </a:p>
          <a:p>
            <a:endParaRPr lang="en-US" dirty="0"/>
          </a:p>
          <a:p>
            <a:r>
              <a:rPr lang="en-US" sz="1600" dirty="0">
                <a:latin typeface="Bahnschrift SemiBold Condensed" panose="020B0502040204020203" pitchFamily="34" charset="0"/>
              </a:rPr>
              <a:t>Step 3 – Modifying Utilman.exe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latin typeface="Bahnschrift SemiBold Condensed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+mj-lt"/>
              </a:rPr>
              <a:t>The original Utilman.exe file is renamed and kept as a backup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+mj-lt"/>
              </a:rPr>
              <a:t>A copy of cmd.exe is placed in its position.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+mj-lt"/>
              </a:rPr>
              <a:t>The computer is then restarted.</a:t>
            </a:r>
          </a:p>
          <a:p>
            <a:endParaRPr lang="en-US" sz="1600" dirty="0">
              <a:latin typeface="+mj-lt"/>
            </a:endParaRPr>
          </a:p>
          <a:p>
            <a:r>
              <a:rPr lang="en-US" sz="1600" dirty="0">
                <a:latin typeface="+mj-lt"/>
              </a:rPr>
              <a:t>This changes what is launched when the Accessibility icon is selected at the Windows sign in screen.</a:t>
            </a:r>
          </a:p>
          <a:p>
            <a:endParaRPr lang="en-US" sz="1600" dirty="0">
              <a:latin typeface="+mj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2E842B1-10A4-EC30-7F9C-9E8833A50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947" y="4439654"/>
            <a:ext cx="4231128" cy="232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455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370F78A-82FF-2681-6065-F313FA3B3BE7}"/>
              </a:ext>
            </a:extLst>
          </p:cNvPr>
          <p:cNvCxnSpPr/>
          <p:nvPr/>
        </p:nvCxnSpPr>
        <p:spPr>
          <a:xfrm>
            <a:off x="228600" y="1407695"/>
            <a:ext cx="119634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B249C58-2D86-A5E0-E447-4F4ECF85A289}"/>
              </a:ext>
            </a:extLst>
          </p:cNvPr>
          <p:cNvSpPr txBox="1"/>
          <p:nvPr/>
        </p:nvSpPr>
        <p:spPr>
          <a:xfrm>
            <a:off x="1660667" y="811859"/>
            <a:ext cx="6756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PROOF OF CONCEPT: LOGIN SCREEN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0D6724-27F4-9EA2-A9CC-0EA15E640EA4}"/>
              </a:ext>
            </a:extLst>
          </p:cNvPr>
          <p:cNvSpPr txBox="1"/>
          <p:nvPr/>
        </p:nvSpPr>
        <p:spPr>
          <a:xfrm>
            <a:off x="673769" y="1491372"/>
            <a:ext cx="911993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Bahnschrift SemiBold Condensed" panose="020B0502040204020203" pitchFamily="34" charset="0"/>
              </a:rPr>
              <a:t>Step 4- Testing the change </a:t>
            </a:r>
          </a:p>
          <a:p>
            <a:endParaRPr lang="en-US" sz="1600" dirty="0">
              <a:latin typeface="Bahnschrift SemiBold Condensed" panose="020B0502040204020203" pitchFamily="34" charset="0"/>
            </a:endParaRPr>
          </a:p>
          <a:p>
            <a:r>
              <a:rPr lang="en-US" sz="1600" dirty="0">
                <a:latin typeface="Bahnschrift SemiBold Condensed" panose="020B0502040204020203" pitchFamily="34" charset="0"/>
              </a:rPr>
              <a:t>After restarting 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latin typeface="Bahnschrift SemiBold Condensed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+mj-lt"/>
              </a:rPr>
              <a:t>Windows returns to the sign in screen.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+mj-lt"/>
              </a:rPr>
              <a:t>The Accessibility icon is selected.</a:t>
            </a:r>
          </a:p>
          <a:p>
            <a:endParaRPr lang="en-US" sz="16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+mj-lt"/>
              </a:rPr>
              <a:t>Instead of normal utility manager, a Command Prompt appears.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latin typeface="+mj-lt"/>
            </a:endParaRPr>
          </a:p>
          <a:p>
            <a:r>
              <a:rPr lang="en-US" sz="1600" dirty="0">
                <a:latin typeface="+mj-lt"/>
              </a:rPr>
              <a:t>This shows the effect of changing a system utility that can be lunched before normal authentication.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D63106-3321-94C5-0F89-1B25E7467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69" y="4622036"/>
            <a:ext cx="4479470" cy="20434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7909C7-47A0-2B76-D6EF-58319A496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799" y="4622036"/>
            <a:ext cx="4154906" cy="205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550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DEC8525-D8FF-98EB-FA6A-13BEEB9FC2A0}"/>
              </a:ext>
            </a:extLst>
          </p:cNvPr>
          <p:cNvCxnSpPr>
            <a:cxnSpLocks/>
          </p:cNvCxnSpPr>
          <p:nvPr/>
        </p:nvCxnSpPr>
        <p:spPr>
          <a:xfrm>
            <a:off x="144379" y="1359569"/>
            <a:ext cx="1204762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6751F9E-68FC-B810-68FD-18D2F47C5215}"/>
              </a:ext>
            </a:extLst>
          </p:cNvPr>
          <p:cNvSpPr txBox="1"/>
          <p:nvPr/>
        </p:nvSpPr>
        <p:spPr>
          <a:xfrm>
            <a:off x="1828800" y="770020"/>
            <a:ext cx="5714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PROOF OF CONCEPT: ACCOUNT MANAGEMENT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A03E06-8011-A99F-94AF-C23BB23C901F}"/>
              </a:ext>
            </a:extLst>
          </p:cNvPr>
          <p:cNvSpPr txBox="1"/>
          <p:nvPr/>
        </p:nvSpPr>
        <p:spPr>
          <a:xfrm>
            <a:off x="1479884" y="1579787"/>
            <a:ext cx="64368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Bahnschrift SemiBold Condensed" panose="020B0502040204020203" pitchFamily="34" charset="0"/>
              </a:rPr>
              <a:t>Step 5 – Local Account Management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7B3EF0-A202-D8BC-BA28-96A962381A87}"/>
              </a:ext>
            </a:extLst>
          </p:cNvPr>
          <p:cNvSpPr txBox="1"/>
          <p:nvPr/>
        </p:nvSpPr>
        <p:spPr>
          <a:xfrm>
            <a:off x="1383632" y="2138559"/>
            <a:ext cx="7543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the command prompt environment, the Windows account-management tool is opened.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available local account is selected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password is changed for the controlled test account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computer is restarted.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new password is tested.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CBF711-08C2-4709-DAF4-1C55C9F4C54E}"/>
              </a:ext>
            </a:extLst>
          </p:cNvPr>
          <p:cNvSpPr txBox="1"/>
          <p:nvPr/>
        </p:nvSpPr>
        <p:spPr>
          <a:xfrm>
            <a:off x="1263314" y="4259186"/>
            <a:ext cx="87108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demonstration shows that the original password does not have to be cracked to recover access to the test account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2EE41B-EE5D-217C-4163-EBA909437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4944100"/>
            <a:ext cx="3180346" cy="1789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122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550854E-6D59-E997-4294-D998C547647E}"/>
              </a:ext>
            </a:extLst>
          </p:cNvPr>
          <p:cNvCxnSpPr/>
          <p:nvPr/>
        </p:nvCxnSpPr>
        <p:spPr>
          <a:xfrm>
            <a:off x="192505" y="1383632"/>
            <a:ext cx="1199949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D9CEA9A-D405-687F-100E-CE5C5655E59A}"/>
              </a:ext>
            </a:extLst>
          </p:cNvPr>
          <p:cNvSpPr txBox="1"/>
          <p:nvPr/>
        </p:nvSpPr>
        <p:spPr>
          <a:xfrm>
            <a:off x="1732548" y="770021"/>
            <a:ext cx="4231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RESULT &amp; 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EE9CA9-A902-648F-A1C2-53F0E137D019}"/>
              </a:ext>
            </a:extLst>
          </p:cNvPr>
          <p:cNvSpPr txBox="1"/>
          <p:nvPr/>
        </p:nvSpPr>
        <p:spPr>
          <a:xfrm>
            <a:off x="1076826" y="1627912"/>
            <a:ext cx="907782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 </a:t>
            </a:r>
          </a:p>
          <a:p>
            <a:endParaRPr lang="en-US" dirty="0"/>
          </a:p>
          <a:p>
            <a:r>
              <a:rPr lang="en-US" dirty="0"/>
              <a:t>The proof of concept successfully demonstrated how offline access to Windows system file can affect the normal login process.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Conclusion</a:t>
            </a:r>
          </a:p>
          <a:p>
            <a:endParaRPr lang="en-US" dirty="0"/>
          </a:p>
          <a:p>
            <a:r>
              <a:rPr lang="en-US" dirty="0"/>
              <a:t>Utilman.exe is a legitimate Windows accessibility tool, but the demonstration showed how modifying a trusted system can create a path around normal local authentication.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33973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189</TotalTime>
  <Words>490</Words>
  <Application>Microsoft Office PowerPoint</Application>
  <PresentationFormat>Widescreen</PresentationFormat>
  <Paragraphs>86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Wingdings 3</vt:lpstr>
      <vt:lpstr>Arial</vt:lpstr>
      <vt:lpstr>Californian FB</vt:lpstr>
      <vt:lpstr>Bahnschrift SemiBold Condensed</vt:lpstr>
      <vt:lpstr>Wingdings</vt:lpstr>
      <vt:lpstr>Century Gothic</vt:lpstr>
      <vt:lpstr>Aptos</vt:lpstr>
      <vt:lpstr>Theme1</vt:lpstr>
      <vt:lpstr>PASSWORD BYPASS ON WINDOWS USING UTILITY MANAGER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NWAIGWE KELECHI PETER</dc:creator>
  <cp:lastModifiedBy>NWAIGWE KELECHI PETER</cp:lastModifiedBy>
  <cp:revision>12</cp:revision>
  <dcterms:created xsi:type="dcterms:W3CDTF">2026-09-18T20:46:00Z</dcterms:created>
  <dcterms:modified xsi:type="dcterms:W3CDTF">2026-09-24T17:04:53Z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32B5965B768042D1850124D662800884_12</vt:lpwstr>
  </property>
  <property fmtid="{D5CDD505-2E9C-101B-9397-08002B2CF9AE}" pid="3" name="KSOProductBuildVer">
    <vt:lpwstr>1033-12.1.0.28485</vt:lpwstr>
  </property>
</Properties>
</file>